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2DF5E8-7D6A-41C2-B0D7-A635182B3AF5}" v="5" dt="2026-08-31T10:02:23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a Bubba" userId="4a005e6c-d965-4741-a2d8-bf35cc144fab" providerId="ADAL" clId="{280E7676-0F3C-4B20-875C-CCB2610D24F5}"/>
    <pc:docChg chg="undo custSel modSld">
      <pc:chgData name="Francesca Bubba" userId="4a005e6c-d965-4741-a2d8-bf35cc144fab" providerId="ADAL" clId="{280E7676-0F3C-4B20-875C-CCB2610D24F5}" dt="2026-08-31T10:02:35.720" v="10" actId="113"/>
      <pc:docMkLst>
        <pc:docMk/>
      </pc:docMkLst>
      <pc:sldChg chg="modSp mod">
        <pc:chgData name="Francesca Bubba" userId="4a005e6c-d965-4741-a2d8-bf35cc144fab" providerId="ADAL" clId="{280E7676-0F3C-4B20-875C-CCB2610D24F5}" dt="2026-08-31T10:02:35.720" v="10" actId="113"/>
        <pc:sldMkLst>
          <pc:docMk/>
          <pc:sldMk cId="0" sldId="256"/>
        </pc:sldMkLst>
        <pc:spChg chg="mod">
          <ac:chgData name="Francesca Bubba" userId="4a005e6c-d965-4741-a2d8-bf35cc144fab" providerId="ADAL" clId="{280E7676-0F3C-4B20-875C-CCB2610D24F5}" dt="2026-08-31T10:02:35.720" v="10" actId="113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2429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960120" cy="96012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mu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9" y="916229"/>
            <a:ext cx="499262" cy="49926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1488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4000" b="1" dirty="0">
                <a:solidFill>
                  <a:schemeClr val="bg1"/>
                </a:solidFill>
              </a:rPr>
              <a:t>L'impronta semantica degli LLM: Analisi comparativa tra musica reale e artificiale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9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 3 — Stereotipi, bias e rappresentazioni culturali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434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A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 dei dati e del linguaggio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806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Francesca Bubba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Alfio Ferrara — Dott. Sergio Picascia, Dott.ssa Elisabetta Rocchetti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studiare l'omogeneizzazione culturale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760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modelli linguistici generativi vengono sempre più usati per produrre testi legati alla musica. La letteratura sui bias nei LLM mostra che i modelli tendono a riprodurre pattern dominanti nei dati di addestramento, appiattendo le differenze culturali </a:t>
            </a:r>
            <a:r>
              <a:rPr lang="en-US" sz="1500" dirty="0" err="1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</a:t>
            </a: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rappresentate</a:t>
            </a: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dominio musicale è un banco di prova ideale: generi diversi corrispondono a tradizioni linguistiche e culturali molto distinte tra loro — un contesto in cui un eventuale appiattimento del modello è facilmente osservabile.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371600"/>
            <a:ext cx="640080" cy="64008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858" y="15156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43800" y="1371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 diversi, tradizioni diverse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20840" y="2423160"/>
            <a:ext cx="640080" cy="64008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9" name="Image 1" descr="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858" y="2567178"/>
            <a:ext cx="352044" cy="3520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43800" y="2423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sempre più usati per generare testi musicali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720840" y="3474720"/>
            <a:ext cx="640080" cy="64008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2" descr="icons/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858" y="3618738"/>
            <a:ext cx="352044" cy="3520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543800" y="3474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 concreto di appiattimento e stereotipizzazione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 di ricerca e ipotesi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E9E1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 txBox="1"/>
          <p:nvPr/>
        </p:nvSpPr>
        <p:spPr>
          <a:xfrm>
            <a:off x="868680" y="187452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LLM, generando testi di canzoni per generi musicali legati a tradizioni culturali diverse, tende a renderli più simili tra loro (in termini semantici) rispetto a quanto lo siano realmente i testi originali dello stesso genere?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IPOTESI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3484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corpus reale, i generi musicali restano linguisticamente e tematicamente più distinti tra loro rispetto ai testi generati dal modello, che tendono invece a un maggiore appiattimento reciproco — misurato come similarità semantica più alta tra coppie di generi.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Fonti e dati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1" descr="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" y="2089404"/>
            <a:ext cx="301752" cy="3017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19476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 generati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560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Qwen2.5-3B-Instruct (Hugging Face), eseguito in locale — nessuna chiave API richiesta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72200" y="16916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7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2" descr="icons/mus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964" y="208940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78040" y="19476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reale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446520" y="2560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Genius API ufficiale, via lyricsgenius — 3 artisti per genere, token gratuito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1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3" descr="icons/langu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" y="419252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050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Traduzione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22960" y="46634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deep-translator — normalizzazione dei testi non italiani per il confronto semantico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17220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5"/>
          <p:cNvSpPr/>
          <p:nvPr/>
        </p:nvSpPr>
        <p:spPr>
          <a:xfrm>
            <a:off x="6446520" y="406908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2" name="Image 4" descr="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9964" y="419252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78040" y="4050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 semantica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6446520" y="46634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sentence-transformers, modello multilingue paraphrase-multilingual-MiniLM-L12-v2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— la pipeline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3774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 txBox="1"/>
          <p:nvPr/>
        </p:nvSpPr>
        <p:spPr>
          <a:xfrm>
            <a:off x="749808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971800"/>
            <a:ext cx="1563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 di 6 generi musicali e 3 temi fissi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2423160" y="3063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560320" y="23774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4735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 txBox="1"/>
          <p:nvPr/>
        </p:nvSpPr>
        <p:spPr>
          <a:xfrm>
            <a:off x="2670048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2670048" y="2971800"/>
            <a:ext cx="1563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batch dei testi con LLM locale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343400" y="3063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480560" y="23774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 txBox="1"/>
          <p:nvPr/>
        </p:nvSpPr>
        <p:spPr>
          <a:xfrm>
            <a:off x="4590288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590288" y="2971800"/>
            <a:ext cx="1563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Raccolta del corpus reale via Genius API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3063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400800" y="23774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4735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 txBox="1"/>
          <p:nvPr/>
        </p:nvSpPr>
        <p:spPr>
          <a:xfrm>
            <a:off x="6510528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510528" y="2971800"/>
            <a:ext cx="1563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e traduzione in italiano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3063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8321040" y="23774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 txBox="1"/>
          <p:nvPr/>
        </p:nvSpPr>
        <p:spPr>
          <a:xfrm>
            <a:off x="8430768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8430768" y="2971800"/>
            <a:ext cx="1563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semantici e similarità tra generi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0104120" y="3063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10241280" y="23774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4735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 txBox="1"/>
          <p:nvPr/>
        </p:nvSpPr>
        <p:spPr>
          <a:xfrm>
            <a:off x="10351008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10351008" y="2971800"/>
            <a:ext cx="1563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statistica dell'ipotesi (Wilcoxon)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4663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fase è documentata nel notebook con prompt, parametri e criteri di selezione espliciti.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Dettagli tecnici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8" y="1515618"/>
            <a:ext cx="352044" cy="3520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71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Generazione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Qwen2.5-3B-Instruct, modello open-weight non gated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Eseguito localmente sulla GPU di Colab (T4)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in batch (8 prompt in parallelo)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chiave API richiesta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9360" y="1371600"/>
            <a:ext cx="640080" cy="64008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378" y="1515618"/>
            <a:ext cx="352044" cy="3520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32320" y="1371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reale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Genius API ufficiale (docs.genius.com)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gratuito, registrazione in 2 minuti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artisti rappresentativi per ciascun genere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tentativo di scraping è stato scartato (HTTP 403 + ToS)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9E1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pulizia del testo e traduzione automatica in italiano (deep-translator) per rendere confrontabili testi in lingue diverse — italiano, inglese, spagnolo, coreano, portoghese.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corpus raccolto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3E2C6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 generati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generi × 3 temi × 3 ripetizioni)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9202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3E2C6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3383280" y="23774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 reali raccolti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brani di fado non trovati su Genius)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3E2C6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6217920" y="23774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 musicali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52560" y="19202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3E2C6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9052560" y="23774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 fissi: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amore, festa, nostalgia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Omogeneizzazione dei generi musicali nei testi generati da un LLM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Risultati — similarità semantica tra generi</a:t>
            </a:r>
            <a:endParaRPr lang="en-US" sz="2600" dirty="0"/>
          </a:p>
        </p:txBody>
      </p:sp>
      <p:pic>
        <p:nvPicPr>
          <p:cNvPr id="5" name="Image 1" descr="repo_assets/similarity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508760"/>
            <a:ext cx="10515600" cy="4206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sinistra: similarità tra generi nei testi generati dal modello. A destra: similarità tra generi nel corpus reale.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statistica dell'ipotesi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E9E1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 txBox="1"/>
          <p:nvPr/>
        </p:nvSpPr>
        <p:spPr>
          <a:xfrm>
            <a:off x="548640" y="203911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0.682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26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similarità media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generi — testi generati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51960" y="178308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E9E1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 txBox="1"/>
          <p:nvPr/>
        </p:nvSpPr>
        <p:spPr>
          <a:xfrm>
            <a:off x="4251960" y="203911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0.667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2926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similarità media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generi — corpus reale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55280" y="178308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E9E1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 txBox="1"/>
          <p:nvPr/>
        </p:nvSpPr>
        <p:spPr>
          <a:xfrm>
            <a:off x="7955280" y="203911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0.80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2926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 Wilcoxon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dirty="0" err="1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ipotesi</a:t>
            </a:r>
            <a:r>
              <a:rPr lang="en-US" sz="13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generati &gt; reali)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2976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822960" y="4526280"/>
            <a:ext cx="914400" cy="9144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1" descr="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4745736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965960" y="44805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Ipotesi</a:t>
            </a: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non confermata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965960" y="4937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9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0.80, ben oltre la soglia di significatività: i testi generati non risultano statisticamente più omogenei tra loro rispetto al corpus reale.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</a:rPr>
              <a:t>Un pattern da non </a:t>
            </a:r>
            <a:r>
              <a:rPr lang="en-US" sz="3000" b="1" dirty="0" err="1">
                <a:solidFill>
                  <a:srgbClr val="2D1B4E"/>
                </a:solidFill>
                <a:latin typeface="Cambria" pitchFamily="34" charset="0"/>
                <a:ea typeface="Cambria" pitchFamily="34" charset="-122"/>
              </a:rPr>
              <a:t>ignorare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test statistico non supporta l'ipotesi: la similarità media tra generi nei testi generati non è significativamente più alta di quella del corpus reale.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697480"/>
            <a:ext cx="11064240" cy="2634965"/>
          </a:xfrm>
          <a:prstGeom prst="roundRect">
            <a:avLst>
              <a:gd name="adj" fmla="val 3429"/>
            </a:avLst>
          </a:prstGeom>
          <a:solidFill>
            <a:srgbClr val="E9E1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868680" y="2835386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entrambe le matrici, 5 generi su 6 mostrano similarità reciproche prossime a 1, mentre “trap italiana” risulta un outlier isolato — anche nel corpus reale, dove ci si aspetterebbe più diversità tra K-pop, fado, afrobeats, reggaeton e pop anglosassone.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83920" y="3726926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Ipotesi più probabile: un artefatto tecnico indipendente dal fenomeno studiato — es. un effetto di omogeneizzazione introdotto dalla traduzione automatica dei testi non italiani, comune ai generi generati e a quelli reali. Da verificare prima di trarre conclusioni definitive.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Limiti dello studio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 txBox="1"/>
          <p:nvPr/>
        </p:nvSpPr>
        <p:spPr>
          <a:xfrm>
            <a:off x="82296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Campione ridotto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0487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testi generati e solo 16 testi reali (2 brani di fado non reperiti).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 txBox="1"/>
          <p:nvPr/>
        </p:nvSpPr>
        <p:spPr>
          <a:xfrm>
            <a:off x="644652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Possibile artefatto della traduzione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40487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pattern di similarità quasi uniforme tra i generi non italiani potrebbe derivare dalla normalizzazione linguistica, non dal fenomeno studiato.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 txBox="1"/>
          <p:nvPr/>
        </p:nvSpPr>
        <p:spPr>
          <a:xfrm>
            <a:off x="822960" y="4023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Modello locale di dimensioni contenute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50799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 è più piccolo e meno capace di un LLM commerciale.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379476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 txBox="1"/>
          <p:nvPr/>
        </p:nvSpPr>
        <p:spPr>
          <a:xfrm>
            <a:off x="6446520" y="4023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Rappresentatività degli artisti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50799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artisti per genere sono un punto di partenza arbitrario, non una campionatura sistematica.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Isolare l'effetto della traduzione automatica dal fenomeno di omogeneizzazione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Aumentare il volume di testi generati e reali per una maggiore robustezza statistica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prompt contestualizzati </a:t>
            </a:r>
            <a:r>
              <a:rPr lang="en-US" sz="1600" dirty="0" err="1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culturalmente</a:t>
            </a:r>
            <a:r>
              <a:rPr lang="en-US" sz="16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err="1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Confrontare</a:t>
            </a:r>
            <a:r>
              <a:rPr lang="en-US" sz="16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più modelli LLM, locali e commerciali, tra loro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11480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822960" y="4343400"/>
            <a:ext cx="914400" cy="9144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4562856"/>
            <a:ext cx="475488" cy="4754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65960" y="4251960"/>
            <a:ext cx="9326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non conferma l'ipotesi di appiattimento culturale nei testi generati, ma porta alla luce un'anomalia metodologica — l'effetto della traduzione automatica — che merita un approfondimento dedicato prima di trarre conclusioni sul fenomeno originario.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</Words>
  <Application>Microsoft Office PowerPoint</Application>
  <PresentationFormat>Widescreen</PresentationFormat>
  <Paragraphs>125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Francesca Bubba</cp:lastModifiedBy>
  <cp:revision>2</cp:revision>
  <dcterms:created xsi:type="dcterms:W3CDTF">2026-08-31T09:21:11Z</dcterms:created>
  <dcterms:modified xsi:type="dcterms:W3CDTF">2026-08-31T10:03:41Z</dcterms:modified>
</cp:coreProperties>
</file>