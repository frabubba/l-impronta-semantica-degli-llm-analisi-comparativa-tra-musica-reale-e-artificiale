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a Bubba" userId="4a005e6c-d965-4741-a2d8-bf35cc144fab" providerId="ADAL" clId="{96BB89CF-FD3B-4AEB-BDF5-848CA8F750A1}"/>
    <pc:docChg chg="undo custSel delSld modSld">
      <pc:chgData name="Francesca Bubba" userId="4a005e6c-d965-4741-a2d8-bf35cc144fab" providerId="ADAL" clId="{96BB89CF-FD3B-4AEB-BDF5-848CA8F750A1}" dt="2026-09-03T09:58:06.937" v="168" actId="20577"/>
      <pc:docMkLst>
        <pc:docMk/>
      </pc:docMkLst>
      <pc:sldChg chg="modSp mod">
        <pc:chgData name="Francesca Bubba" userId="4a005e6c-d965-4741-a2d8-bf35cc144fab" providerId="ADAL" clId="{96BB89CF-FD3B-4AEB-BDF5-848CA8F750A1}" dt="2026-09-01T15:14:39.526" v="83" actId="20577"/>
        <pc:sldMkLst>
          <pc:docMk/>
          <pc:sldMk cId="0" sldId="256"/>
        </pc:sldMkLst>
        <pc:spChg chg="mod">
          <ac:chgData name="Francesca Bubba" userId="4a005e6c-d965-4741-a2d8-bf35cc144fab" providerId="ADAL" clId="{96BB89CF-FD3B-4AEB-BDF5-848CA8F750A1}" dt="2026-09-01T15:14:39.526" v="83" actId="20577"/>
          <ac:spMkLst>
            <pc:docMk/>
            <pc:sldMk cId="0" sldId="256"/>
            <ac:spMk id="4" creationId="{00000000-0000-0000-0000-000000000000}"/>
          </ac:spMkLst>
        </pc:spChg>
      </pc:sldChg>
      <pc:sldChg chg="delSp modSp mod">
        <pc:chgData name="Francesca Bubba" userId="4a005e6c-d965-4741-a2d8-bf35cc144fab" providerId="ADAL" clId="{96BB89CF-FD3B-4AEB-BDF5-848CA8F750A1}" dt="2026-09-03T09:56:20.560" v="131" actId="20577"/>
        <pc:sldMkLst>
          <pc:docMk/>
          <pc:sldMk cId="0" sldId="257"/>
        </pc:sldMkLst>
        <pc:spChg chg="mod">
          <ac:chgData name="Francesca Bubba" userId="4a005e6c-d965-4741-a2d8-bf35cc144fab" providerId="ADAL" clId="{96BB89CF-FD3B-4AEB-BDF5-848CA8F750A1}" dt="2026-09-03T09:56:20.560" v="13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Francesca Bubba" userId="4a005e6c-d965-4741-a2d8-bf35cc144fab" providerId="ADAL" clId="{96BB89CF-FD3B-4AEB-BDF5-848CA8F750A1}" dt="2026-09-01T15:15:51.641" v="92" actId="478"/>
        <pc:sldMkLst>
          <pc:docMk/>
          <pc:sldMk cId="0" sldId="258"/>
        </pc:sldMkLst>
        <pc:spChg chg="add del mod">
          <ac:chgData name="Francesca Bubba" userId="4a005e6c-d965-4741-a2d8-bf35cc144fab" providerId="ADAL" clId="{96BB89CF-FD3B-4AEB-BDF5-848CA8F750A1}" dt="2026-09-01T15:15:45.534" v="90" actId="20577"/>
          <ac:spMkLst>
            <pc:docMk/>
            <pc:sldMk cId="0" sldId="258"/>
            <ac:spMk id="7" creationId="{00000000-0000-0000-0000-000000000000}"/>
          </ac:spMkLst>
        </pc:spChg>
      </pc:sldChg>
      <pc:sldChg chg="delSp mod">
        <pc:chgData name="Francesca Bubba" userId="4a005e6c-d965-4741-a2d8-bf35cc144fab" providerId="ADAL" clId="{96BB89CF-FD3B-4AEB-BDF5-848CA8F750A1}" dt="2026-09-01T15:18:52.834" v="94" actId="478"/>
        <pc:sldMkLst>
          <pc:docMk/>
          <pc:sldMk cId="0" sldId="259"/>
        </pc:sldMkLst>
      </pc:sldChg>
      <pc:sldChg chg="delSp mod">
        <pc:chgData name="Francesca Bubba" userId="4a005e6c-d965-4741-a2d8-bf35cc144fab" providerId="ADAL" clId="{96BB89CF-FD3B-4AEB-BDF5-848CA8F750A1}" dt="2026-09-01T15:18:56.342" v="95" actId="478"/>
        <pc:sldMkLst>
          <pc:docMk/>
          <pc:sldMk cId="0" sldId="260"/>
        </pc:sldMkLst>
      </pc:sldChg>
      <pc:sldChg chg="delSp mod">
        <pc:chgData name="Francesca Bubba" userId="4a005e6c-d965-4741-a2d8-bf35cc144fab" providerId="ADAL" clId="{96BB89CF-FD3B-4AEB-BDF5-848CA8F750A1}" dt="2026-09-01T15:19:05.208" v="96" actId="478"/>
        <pc:sldMkLst>
          <pc:docMk/>
          <pc:sldMk cId="0" sldId="261"/>
        </pc:sldMkLst>
      </pc:sldChg>
      <pc:sldChg chg="delSp mod">
        <pc:chgData name="Francesca Bubba" userId="4a005e6c-d965-4741-a2d8-bf35cc144fab" providerId="ADAL" clId="{96BB89CF-FD3B-4AEB-BDF5-848CA8F750A1}" dt="2026-09-01T15:19:22.157" v="98" actId="478"/>
        <pc:sldMkLst>
          <pc:docMk/>
          <pc:sldMk cId="0" sldId="262"/>
        </pc:sldMkLst>
      </pc:sldChg>
      <pc:sldChg chg="delSp mod">
        <pc:chgData name="Francesca Bubba" userId="4a005e6c-d965-4741-a2d8-bf35cc144fab" providerId="ADAL" clId="{96BB89CF-FD3B-4AEB-BDF5-848CA8F750A1}" dt="2026-09-01T15:19:25.485" v="99" actId="478"/>
        <pc:sldMkLst>
          <pc:docMk/>
          <pc:sldMk cId="0" sldId="263"/>
        </pc:sldMkLst>
      </pc:sldChg>
      <pc:sldChg chg="delSp modSp mod">
        <pc:chgData name="Francesca Bubba" userId="4a005e6c-d965-4741-a2d8-bf35cc144fab" providerId="ADAL" clId="{96BB89CF-FD3B-4AEB-BDF5-848CA8F750A1}" dt="2026-09-01T15:20:21.155" v="103" actId="20577"/>
        <pc:sldMkLst>
          <pc:docMk/>
          <pc:sldMk cId="0" sldId="264"/>
        </pc:sldMkLst>
        <pc:spChg chg="mod">
          <ac:chgData name="Francesca Bubba" userId="4a005e6c-d965-4741-a2d8-bf35cc144fab" providerId="ADAL" clId="{96BB89CF-FD3B-4AEB-BDF5-848CA8F750A1}" dt="2026-09-01T15:20:21.155" v="103" actId="20577"/>
          <ac:spMkLst>
            <pc:docMk/>
            <pc:sldMk cId="0" sldId="264"/>
            <ac:spMk id="17" creationId="{00000000-0000-0000-0000-000000000000}"/>
          </ac:spMkLst>
        </pc:spChg>
      </pc:sldChg>
      <pc:sldChg chg="delSp modSp mod">
        <pc:chgData name="Francesca Bubba" userId="4a005e6c-d965-4741-a2d8-bf35cc144fab" providerId="ADAL" clId="{96BB89CF-FD3B-4AEB-BDF5-848CA8F750A1}" dt="2026-09-03T09:58:06.937" v="168" actId="20577"/>
        <pc:sldMkLst>
          <pc:docMk/>
          <pc:sldMk cId="0" sldId="265"/>
        </pc:sldMkLst>
        <pc:spChg chg="mod">
          <ac:chgData name="Francesca Bubba" userId="4a005e6c-d965-4741-a2d8-bf35cc144fab" providerId="ADAL" clId="{96BB89CF-FD3B-4AEB-BDF5-848CA8F750A1}" dt="2026-09-03T09:58:06.937" v="168" actId="20577"/>
          <ac:spMkLst>
            <pc:docMk/>
            <pc:sldMk cId="0" sldId="265"/>
            <ac:spMk id="4" creationId="{00000000-0000-0000-0000-000000000000}"/>
          </ac:spMkLst>
        </pc:spChg>
      </pc:sldChg>
      <pc:sldChg chg="delSp mod">
        <pc:chgData name="Francesca Bubba" userId="4a005e6c-d965-4741-a2d8-bf35cc144fab" providerId="ADAL" clId="{96BB89CF-FD3B-4AEB-BDF5-848CA8F750A1}" dt="2026-09-01T15:22:38.158" v="105" actId="478"/>
        <pc:sldMkLst>
          <pc:docMk/>
          <pc:sldMk cId="0" sldId="266"/>
        </pc:sldMkLst>
      </pc:sldChg>
      <pc:sldChg chg="delSp modSp mod">
        <pc:chgData name="Francesca Bubba" userId="4a005e6c-d965-4741-a2d8-bf35cc144fab" providerId="ADAL" clId="{96BB89CF-FD3B-4AEB-BDF5-848CA8F750A1}" dt="2026-09-01T15:23:17.260" v="126" actId="478"/>
        <pc:sldMkLst>
          <pc:docMk/>
          <pc:sldMk cId="0" sldId="267"/>
        </pc:sldMkLst>
        <pc:spChg chg="mod">
          <ac:chgData name="Francesca Bubba" userId="4a005e6c-d965-4741-a2d8-bf35cc144fab" providerId="ADAL" clId="{96BB89CF-FD3B-4AEB-BDF5-848CA8F750A1}" dt="2026-09-01T15:23:11.917" v="125" actId="20577"/>
          <ac:spMkLst>
            <pc:docMk/>
            <pc:sldMk cId="0" sldId="267"/>
            <ac:spMk id="4" creationId="{00000000-0000-0000-0000-000000000000}"/>
          </ac:spMkLst>
        </pc:spChg>
      </pc:sldChg>
    </pc:docChg>
  </pc:docChgLst>
  <pc:docChgLst>
    <pc:chgData name="Francesca Bubba" userId="5d3dd15b9464a25a" providerId="LiveId" clId="{96BB89CF-FD3B-4AEB-BDF5-848CA8F750A1}"/>
    <pc:docChg chg="modSld">
      <pc:chgData name="Francesca Bubba" userId="5d3dd15b9464a25a" providerId="LiveId" clId="{96BB89CF-FD3B-4AEB-BDF5-848CA8F750A1}" dt="2026-09-11T16:03:30.282" v="12" actId="20577"/>
      <pc:docMkLst>
        <pc:docMk/>
      </pc:docMkLst>
      <pc:sldChg chg="modSp mod">
        <pc:chgData name="Francesca Bubba" userId="5d3dd15b9464a25a" providerId="LiveId" clId="{96BB89CF-FD3B-4AEB-BDF5-848CA8F750A1}" dt="2026-09-11T16:03:30.282" v="12" actId="20577"/>
        <pc:sldMkLst>
          <pc:docMk/>
          <pc:sldMk cId="0" sldId="267"/>
        </pc:sldMkLst>
        <pc:spChg chg="mod">
          <ac:chgData name="Francesca Bubba" userId="5d3dd15b9464a25a" providerId="LiveId" clId="{96BB89CF-FD3B-4AEB-BDF5-848CA8F750A1}" dt="2026-09-11T16:03:30.282" v="12" actId="20577"/>
          <ac:spMkLst>
            <pc:docMk/>
            <pc:sldMk cId="0" sldId="26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960120" cy="9601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mu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9" y="916229"/>
            <a:ext cx="499262" cy="49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488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L’impronta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semantica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degli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LLM: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comparative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musica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reale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9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 3 — Stereotipi, bias e rappresentazioni culturali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434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A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dei dati e del linguaggio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806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Francesca Bubba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Alfio Ferrara — Dott. Sergio Picascia, Dott.ssa Elisabetta Rocchetti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studiare l'omogeneizzazione culturale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modelli linguistici generativi vengono sempre più usati per produrre testi legati alla musica. La letteratura sui bias nei LLM mostra che i modelli tendono a riprodurre pattern dominanti nei dati di addestramento, appiattendo le differenze culturali </a:t>
            </a:r>
            <a:r>
              <a:rPr lang="en-US" sz="1500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</a:t>
            </a: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rappresentate</a:t>
            </a: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dominio musicale è un banco di prova ideale: generi diversi corrispondono a tradizioni linguistiche e culturali molto distinte tra loro — un contesto in cui un eventuale appiattimento del modello è facilmente osservabile.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37160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858" y="15156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43800" y="1371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 diversi, tradizioni diverse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20840" y="242316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1" descr="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858" y="2567178"/>
            <a:ext cx="352044" cy="3520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2423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sempre più usati per generare testi musicali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720840" y="347472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2" descr="icons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858" y="3618738"/>
            <a:ext cx="352044" cy="3520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43800" y="3474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concreto di appiattimento e stereotipizzazione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 di ricerca e ipotesi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868680" y="187452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LLM, generando testi di canzoni per generi musicali legati a tradizioni culturali diverse, tende a renderli più simili tra loro (in termini semantici) rispetto a quanto lo siano realmente i testi originali dello stesso genere?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IPOTESI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348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corpus reale, i generi musicali restano linguisticamente e tematicamente più distinti tra loro rispetto ai testi generati dal modello, che tendono invece a un maggiore appiattimento reciproco — misurato come similarità semantica più alta tra coppie di generi.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Fonti e dati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1" descr="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2089404"/>
            <a:ext cx="301752" cy="3017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947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 generati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Qwen2.5-3B-Instruct (Hugging Face), eseguito in locale — nessuna chiave API richiesta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2" descr="icons/mus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208940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78040" y="19476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reale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46520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 API ufficiale, via lyricsgenius — 3 artisti per genere, token gratuito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1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3" descr="icons/langu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419252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050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Traduzione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46634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 — normalizzazione dei testi non italiani per il confronto semantico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7220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5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4" descr="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9964" y="4192524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78040" y="4050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 semantica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46520" y="46634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sentence-transformers, modello multilingue paraphrase-multilingual-MiniLM-L12-v2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— la pipeline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74980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Definizione di 6 generi musicali e 3 temi fissi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6032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4735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 txBox="1"/>
          <p:nvPr/>
        </p:nvSpPr>
        <p:spPr>
          <a:xfrm>
            <a:off x="267004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67004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batch dei testi con LLM locale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34340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48056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 txBox="1"/>
          <p:nvPr/>
        </p:nvSpPr>
        <p:spPr>
          <a:xfrm>
            <a:off x="459028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59028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Raccolta del corpus reale via Genius API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40080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4735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 txBox="1"/>
          <p:nvPr/>
        </p:nvSpPr>
        <p:spPr>
          <a:xfrm>
            <a:off x="651052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51052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e traduzione in italiano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832104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 txBox="1"/>
          <p:nvPr/>
        </p:nvSpPr>
        <p:spPr>
          <a:xfrm>
            <a:off x="843076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43076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semantici e similarità tra generi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0104120" y="3063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10241280" y="23774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47357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 txBox="1"/>
          <p:nvPr/>
        </p:nvSpPr>
        <p:spPr>
          <a:xfrm>
            <a:off x="1035100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10351008" y="2971800"/>
            <a:ext cx="1563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statistica dell'ipotesi (Wilcoxon)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fase è documentata nel notebook con prompt, parametri e criteri di selezione espliciti.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Dettagli tecnici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" y="1515618"/>
            <a:ext cx="352044" cy="3520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71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Generazione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Qwen2.5-3B-Instruct, modello open-weight non gated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Eseguito localmente sulla GPU di Colab (T4)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in batch (8 prompt in parallelo)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chiave API richiesta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371600"/>
            <a:ext cx="640080" cy="64008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78" y="1515618"/>
            <a:ext cx="352044" cy="3520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1371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reale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 API ufficiale (docs.genius.com)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gratuito, registrazione in 2 minuti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artisti rappresentativi per ciascun genere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tentativo di scraping è stato scartato (HTTP 403 + ToS)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pulizia del testo e traduzione automatica in italiano (deep-translator) per rendere confrontabili testi in lingue diverse — italiano, inglese, spagnolo, coreano, portoghese.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corpus raccolto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3E2C6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 generati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(52 usati nell'analisi, 2 esclusi per traduzione fallita)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9202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3E2C6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338328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 reali raccolti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brani di fado non trovati su Genius)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3E2C6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621792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 musicali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92024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3E2C6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905256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657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 fissi: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amore, festa, nostalgia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A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Risultati — similarità semantica tra generi</a:t>
            </a:r>
            <a:endParaRPr lang="en-US" sz="2600" dirty="0"/>
          </a:p>
        </p:txBody>
      </p:sp>
      <p:pic>
        <p:nvPicPr>
          <p:cNvPr id="5" name="Image 1" descr="repo_assets/similarity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08760"/>
            <a:ext cx="10515600" cy="4206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sinistra: similarità tra generi nei testi generati dal modello. A destra: similarità tra generi nel corpus reale.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statistica dell'ipotesi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548640" y="20391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similarità media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generi — testi generati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51960" y="178308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 txBox="1"/>
          <p:nvPr/>
        </p:nvSpPr>
        <p:spPr>
          <a:xfrm>
            <a:off x="4251960" y="20391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0.617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similarità media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generi — corpus reale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178308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 txBox="1"/>
          <p:nvPr/>
        </p:nvSpPr>
        <p:spPr>
          <a:xfrm>
            <a:off x="7955280" y="20391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 Wilcoxon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(H2: generati &gt; reali)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822960" y="452628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745736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965960" y="44805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Ipotesi</a:t>
            </a: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confermata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965960" y="49377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9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(statistica di Wilcoxon al massimo possibile, 120.00): i testi generati risultano significativamente più omogenei tra loro rispetto al corpus reale.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D1B4E"/>
                </a:solidFill>
                <a:latin typeface="Cambria" pitchFamily="34" charset="0"/>
                <a:ea typeface="Cambria" pitchFamily="34" charset="-122"/>
              </a:rPr>
              <a:t>Errori</a:t>
            </a: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</a:rPr>
              <a:t> di </a:t>
            </a:r>
            <a:r>
              <a:rPr lang="en-US" sz="3000" b="1" dirty="0" err="1">
                <a:solidFill>
                  <a:srgbClr val="2D1B4E"/>
                </a:solidFill>
                <a:latin typeface="Cambria" pitchFamily="34" charset="0"/>
                <a:ea typeface="Cambria" pitchFamily="34" charset="-122"/>
              </a:rPr>
              <a:t>percorso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test statistico supporta l'ipotesi con una significatività molto forte: la similarità media tra generi nei testi generati (0.875) è nettamente più alta di quella osservata nel corpus reale (0.617; p &lt; 0.001).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11064240" cy="3200400"/>
          </a:xfrm>
          <a:prstGeom prst="roundRect">
            <a:avLst>
              <a:gd name="adj" fmla="val 3429"/>
            </a:avLst>
          </a:prstGeom>
          <a:solidFill>
            <a:srgbClr val="E9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bug scoperto e corretto lungo il percorso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46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prima versione della pipeline conteneva un bug nella funzione di pulizia del testo (una regex malformata) che distruggeva quasi interamente il contenuto prima della traduzione; le chiamate di traduzione fallite venivano salvate come se fossero testo valido, producendo similarità artificiosamente vicine a 1 tra i generi non italiani.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5262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bug è stato identificato ispezionando manualmente un campione di testi tradotti, corretto (regex sistemata, validazione e retry sulla traduzione) e l'intera pipeline è stata rieseguita: il risultato qui riportato è quello ottenuto dopo la correzione.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Limiti dello studio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82296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Campione ridotto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0487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testi generati utilizzabili e solo 16 testi reali (2 brani di fado non reperiti, 2 testi generati esclusi per traduzione fallita).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 txBox="1"/>
          <p:nvPr/>
        </p:nvSpPr>
        <p:spPr>
          <a:xfrm>
            <a:off x="644652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Dipendenza dalla traduzione automatica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40487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confronto passa per una traduzione in italiano: la qualità di deep-translator, non validata linguisticamente, resta un fattore esterno al fenomeno studiato.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 txBox="1"/>
          <p:nvPr/>
        </p:nvSpPr>
        <p:spPr>
          <a:xfrm>
            <a:off x="82296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Modello locale di dimensioni contenute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5079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 è più piccolo e meno capace di un LLM commerciale.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379476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AF9FC"/>
          </a:solidFill>
          <a:ln w="12700">
            <a:solidFill>
              <a:srgbClr val="E3DC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 txBox="1"/>
          <p:nvPr/>
        </p:nvSpPr>
        <p:spPr>
          <a:xfrm>
            <a:off x="644652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Rappresentatività degli artisti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5079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artisti per genere sono un punto di partenza arbitrario, non una campionatura sistematica.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D1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Estendere il campione (più artisti e brani per genere) per rafforzare ulteriormente la robustezza statistica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prompt </a:t>
            </a:r>
            <a:r>
              <a:rPr lang="en-US" sz="1600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contestualizzati</a:t>
            </a: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culturalmente</a:t>
            </a: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vedere se riducono l'omogeneizzazione osservata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Confrontare più modelli LLM, locali e commerciali, per capire se il fenomeno è generale o specifico di questo modello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il risultato con un metodo di embedding nativamente multilingue, senza passaggio di traduzione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11480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2D1B4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822960" y="434340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562856"/>
            <a:ext cx="475488" cy="4754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65960" y="4251960"/>
            <a:ext cx="9326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conferma, con una significatività statistica molto forte (p &lt; 0.001), l'ipotesi di partenza: i testi generati dal modello sono significativamente più omogenei tra i generi rispetto al corpus reale — un segnale concreto di appiattimento culturale nella generazione musicale automatica.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b55eef-7018-4674-a3d7-cc0db06d545c}" enabled="0" method="" siteId="{13b55eef-7018-4674-a3d7-cc0db06d54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969</Words>
  <Application>Microsoft Office PowerPoint</Application>
  <PresentationFormat>Widescreen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Francesca Bubba</cp:lastModifiedBy>
  <cp:revision>1</cp:revision>
  <dcterms:created xsi:type="dcterms:W3CDTF">2026-09-01T10:32:08Z</dcterms:created>
  <dcterms:modified xsi:type="dcterms:W3CDTF">2026-09-11T16:04:15Z</dcterms:modified>
</cp:coreProperties>
</file>